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Prix negatifs</c:v>
                </c:pt>
              </c:strCache>
            </c:strRef>
          </c:tx>
          <c:spPr>
            <a:solidFill>
              <a:srgbClr val="F39C12"/>
            </a:solidFill>
          </c:spPr>
          <c:dLbls>
            <c:numFmt formatCode="0" sourceLinked="0"/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DK_1</c:v>
                </c:pt>
                <c:pt idx="1">
                  <c:v>DE</c:v>
                </c:pt>
                <c:pt idx="2">
                  <c:v>DK_2</c:v>
                </c:pt>
                <c:pt idx="3">
                  <c:v>FR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539</c:v>
                </c:pt>
                <c:pt idx="1">
                  <c:v>484</c:v>
                </c:pt>
                <c:pt idx="2">
                  <c:v>354</c:v>
                </c:pt>
                <c:pt idx="3">
                  <c:v>0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 b="1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40406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BDBDBD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C7"/>
                </a:solidFill>
                <a:latin typeface="Calibri"/>
              </a:defRPr>
            </a:pPr>
            <a:r>
              <a:t>PROJET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Prix Negatifs de l'Electricite</a:t>
            </a:r>
            <a:br/>
            <a:r>
              <a:t>Renouvelable en Europe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291840"/>
            <a:ext cx="39620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39C12"/>
                </a:solidFill>
                <a:latin typeface="Calibri"/>
              </a:defRPr>
            </a:pPr>
            <a:r>
              <a:t>Role 1 : Data Engineering &amp; Ingestion des Donnees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DBDBD"/>
                </a:solidFill>
                <a:latin typeface="Calibri"/>
              </a:defRPr>
            </a:pPr>
            <a:r>
              <a:t>Semaines 1-4  |  Fevrier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5303520"/>
            <a:ext cx="1828800" cy="10058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5440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6C7"/>
                </a:solidFill>
                <a:latin typeface="Calibri"/>
              </a:defRPr>
            </a:pPr>
            <a:r>
              <a:t>50,401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943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Observations horaires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5303520"/>
            <a:ext cx="1828800" cy="10058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5440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Calibri"/>
              </a:defRPr>
            </a:pPr>
            <a:r>
              <a:t>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943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Variables nettoyees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5303520"/>
            <a:ext cx="1828800" cy="10058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5440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943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Valeurs manquantes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7772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C7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2763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Contexte &amp; Problematique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29200" cy="7772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CC71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58775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Sources de Donnees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5029200" cy="7772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39C12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54787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Pipeline d'Ingestion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43400"/>
            <a:ext cx="5029200" cy="7772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74C3C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50799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Analyse de Qualite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5029200" cy="7772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406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897B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46811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Nettoyage des Donnees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463040"/>
            <a:ext cx="5029200" cy="7772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6002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B1FA2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162763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Resultats &amp; Metriques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423160"/>
            <a:ext cx="5029200" cy="7772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56032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1C40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58775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Prix Negatifs Identifies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383280"/>
            <a:ext cx="5029200" cy="7772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5204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C7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54787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Documentation &amp; Livrables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343400"/>
            <a:ext cx="5029200" cy="7772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4805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CC71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50799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Recommandations pour l'Equipe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303520"/>
            <a:ext cx="5029200" cy="7772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54406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39C12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546811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Conclusion &amp; Prochaines Etapes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Contexte &amp; Problematique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C7"/>
                </a:solidFill>
                <a:latin typeface="Calibri"/>
              </a:defRPr>
            </a:pPr>
            <a:r>
              <a:t>Le Phenomene des Prix Negatifs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Quand la production eolienne et solaire depasse la demande, les prix de l'electricite deviennent NEGATIFS.</a:t>
            </a:r>
          </a:p>
          <a:p>
            <a:pPr algn="l">
              <a:spcBef>
                <a:spcPts val="600"/>
              </a:spcBef>
              <a:spcAft>
                <a:spcPts val="1600"/>
              </a:spcAft>
              <a:defRPr sz="1500" b="1">
                <a:solidFill>
                  <a:srgbClr val="F39C12"/>
                </a:solidFill>
                <a:latin typeface="Calibri"/>
              </a:defRPr>
            </a:pPr>
            <a:r>
              <a:t>Les producteurs paient pour ecouler leur electricite !</a:t>
            </a:r>
          </a:p>
          <a:p>
            <a:pPr algn="l">
              <a:spcBef>
                <a:spcPts val="600"/>
              </a:spcBef>
              <a:spcAft>
                <a:spcPts val="800"/>
              </a:spcAft>
              <a:defRPr sz="1700" b="1">
                <a:solidFill>
                  <a:srgbClr val="2ECC71"/>
                </a:solidFill>
                <a:latin typeface="Calibri"/>
              </a:defRPr>
            </a:pPr>
            <a:r>
              <a:t>Pourquoi c'est important ?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&gt; Transition energetique : phenomene en forte croissance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&gt; Impact financier : pertes pour producteurs, gains pour consommateurs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&gt; Gestion du reseau : defi pour les operateurs (equilibre offre-demande)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&gt; Opportunite de trading : anticiper = profit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210312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Objectif du Projet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Predire QUAND les prix de l'electricite deviendront negatifs en utilisant les donnees de production renouvelable, de consommation et de marche.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212080" cy="24688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9776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Calibri"/>
              </a:defRPr>
            </a:pPr>
            <a:r>
              <a:t>Mon Role : Data 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5720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C7"/>
                </a:solidFill>
                <a:latin typeface="Calibri"/>
              </a:defRPr>
            </a:pPr>
            <a:r>
              <a:t>Responsabilites :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&gt; Recherche et selection des jeux de donnees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&gt; Pipeline d'ingestion reproductible (Python)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&gt; Analyse de qualite et nettoyage des donnees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BDBDBD"/>
                </a:solidFill>
                <a:latin typeface="Calibri"/>
              </a:defRPr>
            </a:pPr>
            <a:r>
              <a:t>  &gt; Documentation complete (dictionnaire + rapport)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Sources de Donnees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645920" cy="32004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PRINCIPALE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Calibri"/>
              </a:defRPr>
            </a:pPr>
            <a:r>
              <a:t>OPSD Time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v2020-10-06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CC71"/>
                </a:solidFill>
                <a:latin typeface="Calibri"/>
              </a:defRPr>
            </a:pPr>
            <a:r>
              <a:t>Open Power System Data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124 Mo de donnees CSV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50,401 timestamps horaires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300 colonnes / 32 pays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Periode : 2015-2020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Licence CC-BY 4.0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1">
                <a:solidFill>
                  <a:srgbClr val="F39C12"/>
                </a:solidFill>
                <a:latin typeface="Calibri"/>
              </a:defRPr>
            </a:pPr>
            <a:r>
              <a:t>Variables cles 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- Prix day-ahead (EUR/MWh)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- Charge electrique (MW)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- Generation solaire/eolienne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- Capacites installees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- Profils de production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60" y="1645920"/>
            <a:ext cx="1828800" cy="320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COMPLEMENTAIRE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Calibri"/>
              </a:defRPr>
            </a:pPr>
            <a:r>
              <a:t>OPSD Weather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14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ERA5 Reanalysis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0175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CC71"/>
                </a:solidFill>
                <a:latin typeface="Calibri"/>
              </a:defRPr>
            </a:pPr>
            <a:r>
              <a:t>Donnees meteorologiques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Plusieurs Go de donnees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Grille NUTS-2 europeenne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Resolution horaire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1">
                <a:solidFill>
                  <a:srgbClr val="F39C12"/>
                </a:solidFill>
                <a:latin typeface="Calibri"/>
              </a:defRPr>
            </a:pPr>
            <a:r>
              <a:t>Variables 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- Temperature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- Radiation solaire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- Vitesse du vent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- Precipitations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- Densite de l'air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1">
                <a:solidFill>
                  <a:srgbClr val="0096C7"/>
                </a:solidFill>
                <a:latin typeface="Calibri"/>
              </a:defRPr>
            </a:pPr>
            <a:r>
              <a:t>Statut : Disponible si besoin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0" y="1645920"/>
            <a:ext cx="1828800" cy="32004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POTENTIELLE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DBDBD"/>
                </a:solidFill>
                <a:latin typeface="Calibri"/>
              </a:defRPr>
            </a:pPr>
            <a:r>
              <a:t>ENTSO-E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514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Transparency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0175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CC71"/>
                </a:solidFill>
                <a:latin typeface="Calibri"/>
              </a:defRPr>
            </a:pPr>
            <a:r>
              <a:t>Donnees de marche detaillees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Generation par type (nucleaire,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gaz, charbon, eolien, solaire...)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Flux transfrontaliers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Prix day-ahead + intraday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Donnees d'equilibrage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1">
                <a:solidFill>
                  <a:srgbClr val="F39C12"/>
                </a:solidFill>
                <a:latin typeface="Calibri"/>
              </a:defRPr>
            </a:pPr>
            <a:r>
              <a:t>Acces : Inscription requise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API Token necessaire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1">
                <a:solidFill>
                  <a:srgbClr val="0096C7"/>
                </a:solidFill>
                <a:latin typeface="Calibri"/>
              </a:defRPr>
            </a:pPr>
            <a:r>
              <a:t>Statut : Disponible si besoin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pour enrichir l'analyse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02b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Pays Focus : Strategie de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320040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ALLEMAGNE (DE)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C7"/>
                </a:solidFill>
                <a:latin typeface="Calibri"/>
              </a:defRPr>
            </a:pPr>
            <a:r>
              <a:t>Premier marche europeen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1">
                <a:solidFill>
                  <a:srgbClr val="F39C12"/>
                </a:solidFill>
                <a:latin typeface="Calibri"/>
              </a:defRPr>
            </a:pPr>
            <a:r>
              <a:t>484 prix negatifs (2.76%)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Min : -90.01 EUR/MWh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41 colonnes de donnees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Plus grande capacite renouvelable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d'Europe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4 operateurs reseau (TSO):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50hertz, Amprion,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TenneT, TransnetBW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1">
                <a:solidFill>
                  <a:srgbClr val="F39C12"/>
                </a:solidFill>
                <a:latin typeface="Calibri"/>
              </a:defRPr>
            </a:pPr>
            <a:r>
              <a:t>Variable cible principale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1645920"/>
            <a:ext cx="3200400" cy="45720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642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DANEMARK (DK)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C7"/>
                </a:solidFill>
                <a:latin typeface="Calibri"/>
              </a:defRPr>
            </a:pPr>
            <a:r>
              <a:t>Champion de l'eolien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1">
                <a:solidFill>
                  <a:srgbClr val="F39C12"/>
                </a:solidFill>
                <a:latin typeface="Calibri"/>
              </a:defRPr>
            </a:pPr>
            <a:r>
              <a:t>DK_1 : 539 prix negatifs (1.07%)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1">
                <a:solidFill>
                  <a:srgbClr val="F39C12"/>
                </a:solidFill>
                <a:latin typeface="Calibri"/>
              </a:defRPr>
            </a:pPr>
            <a:r>
              <a:t>DK_2 : 354 prix negatifs (0.70%)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Min : -58.80 EUR/MWh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24 colonnes de donnees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Plus forte penetration eolienne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en Europe (&gt;40% du mix)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 zones de marche 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DK_1 (Est) / DK_2 (Ouest)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Eolien offshore dominant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645920"/>
            <a:ext cx="3200400" cy="4572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6642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FRANCE (FR)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C7"/>
                </a:solidFill>
                <a:latin typeface="Calibri"/>
              </a:defRPr>
            </a:pPr>
            <a:r>
              <a:t>Contraste nucleaire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1">
                <a:solidFill>
                  <a:srgbClr val="2ECC71"/>
                </a:solidFill>
                <a:latin typeface="Calibri"/>
              </a:defRPr>
            </a:pPr>
            <a:r>
              <a:t>0 prix negatifs (0.00%)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Min : 5.00 EUR/MWh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5 colonnes de donnees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Domine par le nucleaire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(~70% du mix electrique)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Marche couple IT_NORD-FR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Contraste interessant 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pourquoi pas de prix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negatifs en France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Pipeline d'Ingestion : 4 Scripts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651760" cy="47548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457200" cy="36576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642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Calibri"/>
              </a:defRPr>
            </a:pPr>
            <a:r>
              <a:t>Telechargement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download_opsd_data.py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Calibri"/>
              </a:defRPr>
            </a:pPr>
            <a:r>
              <a:t>~150 lignes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3464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Telechargement automatise depuis OPSD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Verification d'integrite du fichier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Gestion des erreurs reseau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Resultat : 124 Mo CSV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554480"/>
            <a:ext cx="2651760" cy="47548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1645920"/>
            <a:ext cx="45720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664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6642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Exploration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initial_exploration.py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468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Calibri"/>
              </a:defRPr>
            </a:pPr>
            <a:r>
              <a:t>~200 lignes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83464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Vue d'ensemble du dataset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Dimensions : 50,401 x 300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Detection initiale prix negatifs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Rapport : initial_exploration.txt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554480"/>
            <a:ext cx="2651760" cy="47548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2240" y="1645920"/>
            <a:ext cx="457200" cy="3657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664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6642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Qualite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148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data_quality_analysis.py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468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Calibri"/>
              </a:defRPr>
            </a:pPr>
            <a:r>
              <a:t>~350 lignes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83464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Analyse exhaustive de qualite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26.2% valeurs manquantes globales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19 colonnes &gt;50% missing identifiees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Rapport JSON automatise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1554480"/>
            <a:ext cx="2651760" cy="47548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0" y="1645920"/>
            <a:ext cx="45720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1664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16642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Nettoyage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2148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data_cleaning.py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2468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Calibri"/>
              </a:defRPr>
            </a:pPr>
            <a:r>
              <a:t>~250 lignes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83464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Filtrage 3 pays focus (300 -&gt; 71 cols)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Forward fill + backward fill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Creation 7 variables temporelles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Dataset final : 0% missing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6446520"/>
            <a:ext cx="10698480" cy="32004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64648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Total : ~950 lignes de code Python  |  Logging complet  |  Gestion d'erreurs  |  Configuration YAML  |  100% reproductible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Analyse de Qualite : Etat Initial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691640" cy="10058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6C7"/>
                </a:solidFill>
                <a:latin typeface="Calibri"/>
              </a:defRPr>
            </a:pPr>
            <a:r>
              <a:t>50,401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Lignes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39" y="1463040"/>
            <a:ext cx="1691640" cy="10058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39" y="1600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  <a:latin typeface="Calibri"/>
              </a:defRPr>
            </a:pPr>
            <a:r>
              <a:t>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39" y="21031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Colonnes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463040"/>
            <a:ext cx="1691640" cy="10058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600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DBDBD"/>
                </a:solidFill>
                <a:latin typeface="Calibri"/>
              </a:defRPr>
            </a:pPr>
            <a:r>
              <a:t>15.1M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1031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Cellules totales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1463040"/>
            <a:ext cx="1691640" cy="10058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79" y="1600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74C3C"/>
                </a:solidFill>
                <a:latin typeface="Calibri"/>
              </a:defRPr>
            </a:pPr>
            <a:r>
              <a:t>26.2%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21031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Valeurs manquantes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463040"/>
            <a:ext cx="1691640" cy="10058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600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DBDBD"/>
                </a:solidFill>
                <a:latin typeface="Calibri"/>
              </a:defRPr>
            </a:pPr>
            <a:r>
              <a:t>124 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031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Taille fichier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463040"/>
            <a:ext cx="1691640" cy="10058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20" y="1600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Calibri"/>
              </a:defRPr>
            </a:pPr>
            <a:r>
              <a:t>5.5 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21031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Periode (2015-2020)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743200"/>
            <a:ext cx="5486400" cy="38404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2834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Calibri"/>
              </a:defRPr>
            </a:pPr>
            <a:r>
              <a:t>Completude par Categorie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38328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96C7"/>
                </a:solidFill>
                <a:latin typeface="Calibri"/>
              </a:defRPr>
            </a:pPr>
            <a:r>
              <a:t>Categorie                               Cols        %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2ECC71"/>
                </a:solidFill>
                <a:latin typeface="Calibri"/>
              </a:defRPr>
            </a:pPr>
            <a:r>
              <a:t>Completes (0% manquant)                   92    30.7%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F39C12"/>
                </a:solidFill>
                <a:latin typeface="Calibri"/>
              </a:defRPr>
            </a:pPr>
            <a:r>
              <a:t>Partielles (&lt;50%)                        189    63.0%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E74C3C"/>
                </a:solidFill>
                <a:latin typeface="Calibri"/>
              </a:defRPr>
            </a:pPr>
            <a:r>
              <a:t>Majoritairement vides (&gt;=50%)             19     6.3%</a:t>
            </a:r>
          </a:p>
          <a:p>
            <a:pPr algn="l">
              <a:spcBef>
                <a:spcPts val="1200"/>
              </a:spcBef>
              <a:spcAft>
                <a:spcPts val="3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30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t>3,964,527 cellules manquantes sur 15.1M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defRPr sz="1200" b="0">
                <a:solidFill>
                  <a:srgbClr val="BDBDBD"/>
                </a:solidFill>
                <a:latin typeface="Calibri"/>
              </a:defRPr>
            </a:pPr>
            <a:r>
              <a:t>Principalement du aux pays hors focus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743200"/>
            <a:ext cx="5029200" cy="38404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Qualite Temporelle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38328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CC71"/>
                </a:solidFill>
                <a:latin typeface="Calibri"/>
              </a:defRPr>
            </a:pPr>
            <a:r>
              <a:t>EXCELLENTE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2ECC71"/>
                </a:solidFill>
                <a:latin typeface="Calibri"/>
              </a:defRPr>
            </a:pPr>
            <a:r>
              <a:t>  Gaps temporels: 0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2ECC71"/>
                </a:solidFill>
                <a:latin typeface="Calibri"/>
              </a:defRPr>
            </a:pPr>
            <a:r>
              <a:t>  Timestamps dupliques: 0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0096C7"/>
                </a:solidFill>
                <a:latin typeface="Calibri"/>
              </a:defRPr>
            </a:pPr>
            <a:r>
              <a:t>  Resolution: Horaire (1h)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2ECC71"/>
                </a:solidFill>
                <a:latin typeface="Calibri"/>
              </a:defRPr>
            </a:pPr>
            <a:r>
              <a:t>  Regularite: 100%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Debut: 2015-01-01 00:00 UTC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Fin: 2020-06-30 23:00 UTC</a:t>
            </a:r>
          </a:p>
          <a:p>
            <a:pPr algn="l">
              <a:spcBef>
                <a:spcPts val="1200"/>
              </a:spcBef>
              <a:spcAft>
                <a:spcPts val="3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30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Serie temporelle parfaitement coherente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et reguliere sur 5.5 ans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97B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Nettoyage des Donnees : 4 Etapes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651760" cy="47548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2468880" cy="45720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733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Etape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Calibri"/>
              </a:defRPr>
            </a:pPr>
            <a:r>
              <a:t>Filtrage Pays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Calibri"/>
              </a:defRPr>
            </a:pPr>
            <a:r>
              <a:t>300 -&gt; 71 colonnes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Selection DE, DK, FR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Reduction de 76% des colonnes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Focus strategique sur les pays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les plus pertinents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554480"/>
            <a:ext cx="2651760" cy="47548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1645920"/>
            <a:ext cx="246888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6733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Etape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Suppression Colonnes Vides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Calibri"/>
              </a:defRPr>
            </a:pPr>
            <a:r>
              <a:t>7 colonnes supprimees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20040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Seuil : &gt;50% valeurs manquantes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Zone DE_LU (65-67% manquant)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Impact minimal : donnees DE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seules sont completes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554480"/>
            <a:ext cx="2651760" cy="47548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0" y="1645920"/>
            <a:ext cx="246888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6733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Etape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Imputation Forward/Backward Fill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Calibri"/>
              </a:defRPr>
            </a:pPr>
            <a:r>
              <a:t>104,998 valeurs remplies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20040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Forward fill : tendance recente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Backward fill : debut de serie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Adapte aux series temporelles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Resultat : 0 valeurs manquantes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554480"/>
            <a:ext cx="2651760" cy="47548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26880" y="1645920"/>
            <a:ext cx="2468880" cy="45720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16733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Etape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1FA2"/>
                </a:solidFill>
                <a:latin typeface="Calibri"/>
              </a:defRPr>
            </a:pPr>
            <a:r>
              <a:t>Variables Temporelles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Calibri"/>
              </a:defRPr>
            </a:pPr>
            <a:r>
              <a:t>7 nouvelles variables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20040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year, month, day, hour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dayofweek, quarter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is_weekend (binaire)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Essentielles pour le 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1FA2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Resultats : Avant vs Apres Nettoyage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49377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737360"/>
            <a:ext cx="10332720" cy="5029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Metrique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783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Avant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783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Amelioration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377440"/>
            <a:ext cx="10332720" cy="5029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423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Colonnes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423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74C3C"/>
                </a:solidFill>
                <a:latin typeface="Calibri"/>
              </a:defRPr>
            </a:pPr>
            <a:r>
              <a:t>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Calibri"/>
              </a:defRPr>
            </a:pPr>
            <a:r>
              <a:t>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423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96C7"/>
                </a:solidFill>
                <a:latin typeface="Calibri"/>
              </a:defRPr>
            </a:pPr>
            <a:r>
              <a:t>-76% (focus strategique)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971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Valeurs manquantes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971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74C3C"/>
                </a:solidFill>
                <a:latin typeface="Calibri"/>
              </a:defRPr>
            </a:pPr>
            <a:r>
              <a:t>26.2%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71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Calibri"/>
              </a:defRPr>
            </a:pPr>
            <a:r>
              <a:t>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971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ECC71"/>
                </a:solidFill>
                <a:latin typeface="Calibri"/>
              </a:defRPr>
            </a:pPr>
            <a:r>
              <a:t>-26.2 points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474720"/>
            <a:ext cx="10332720" cy="5029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520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Taille fichier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520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74C3C"/>
                </a:solidFill>
                <a:latin typeface="Calibri"/>
              </a:defRPr>
            </a:pPr>
            <a:r>
              <a:t>124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520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Calibri"/>
              </a:defRPr>
            </a:pPr>
            <a:r>
              <a:t>23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520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96C7"/>
                </a:solidFill>
                <a:latin typeface="Calibri"/>
              </a:defRPr>
            </a:pPr>
            <a:r>
              <a:t>-82%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069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Pays couverts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069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74C3C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069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Calibri"/>
              </a:defRPr>
            </a:pPr>
            <a:r>
              <a:t>3 (DE, DK, FR)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069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9C12"/>
                </a:solidFill>
                <a:latin typeface="Calibri"/>
              </a:defRPr>
            </a:pPr>
            <a:r>
              <a:t>Focus pertinent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572000"/>
            <a:ext cx="10332720" cy="5029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617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Lignes conservees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617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74C3C"/>
                </a:solidFill>
                <a:latin typeface="Calibri"/>
              </a:defRPr>
            </a:pPr>
            <a:r>
              <a:t>50,401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617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Calibri"/>
              </a:defRPr>
            </a:pPr>
            <a:r>
              <a:t>50,401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617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ECC71"/>
                </a:solidFill>
                <a:latin typeface="Calibri"/>
              </a:defRPr>
            </a:pPr>
            <a:r>
              <a:t>100% (aucune perte)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166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Gaps temporels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5166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74C3C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166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5166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ECC71"/>
                </a:solidFill>
                <a:latin typeface="Calibri"/>
              </a:defRPr>
            </a:pPr>
            <a:r>
              <a:t>Parfait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5669279"/>
            <a:ext cx="10332720" cy="5029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71499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Completude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571499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74C3C"/>
                </a:solidFill>
                <a:latin typeface="Calibri"/>
              </a:defRPr>
            </a:pPr>
            <a:r>
              <a:t>73.8%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71499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571499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ECC71"/>
                </a:solidFill>
                <a:latin typeface="Calibri"/>
              </a:defRPr>
            </a:pPr>
            <a:r>
              <a:t>+26.2 points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Calibri"/>
              </a:defRPr>
            </a:pPr>
            <a:r>
              <a:t>Dataset final : 50,401 lignes x 71 colonnes  |  0% valeurs manquantes  |  22.75 Mo  |  Pret pour l'analyse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C40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Prix Negatifs Identifies : Variable Cible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554480"/>
          <a:ext cx="54864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92240" y="1554480"/>
            <a:ext cx="5029200" cy="3200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C40F"/>
                </a:solidFill>
                <a:latin typeface="Calibri"/>
              </a:defRPr>
            </a:pPr>
            <a:r>
              <a:t>Detail par Zone de Marche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9456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96C7"/>
                </a:solidFill>
                <a:latin typeface="Calibri"/>
              </a:defRPr>
            </a:pPr>
            <a:r>
              <a:t>Zone                          Nb        %          Min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200" b="0">
                <a:solidFill>
                  <a:srgbClr val="E74C3C"/>
                </a:solidFill>
                <a:latin typeface="Calibri"/>
              </a:defRPr>
            </a:pPr>
            <a:r>
              <a:t>Allemagne (DE)               484    2.76%   -90.01 EUR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200" b="0">
                <a:solidFill>
                  <a:srgbClr val="F39C12"/>
                </a:solidFill>
                <a:latin typeface="Calibri"/>
              </a:defRPr>
            </a:pPr>
            <a:r>
              <a:t>Danemark Est (DK_1)          539    1.07%   -58.80 EUR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200" b="0">
                <a:solidFill>
                  <a:srgbClr val="F39C12"/>
                </a:solidFill>
                <a:latin typeface="Calibri"/>
              </a:defRPr>
            </a:pPr>
            <a:r>
              <a:t>Danemark Ouest (DK_2)        354    0.70%   -53.62 EUR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200" b="0">
                <a:solidFill>
                  <a:srgbClr val="2ECC71"/>
                </a:solidFill>
                <a:latin typeface="Calibri"/>
              </a:defRPr>
            </a:pPr>
            <a:r>
              <a:t>France (IT_NORD_FR)            0    0.00%     5.00 EUR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698480" cy="15544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C40F"/>
                </a:solidFill>
                <a:latin typeface="Calibri"/>
              </a:defRPr>
            </a:pPr>
            <a: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5778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CC71"/>
                </a:solidFill>
                <a:latin typeface="Calibri"/>
              </a:defRPr>
            </a:pPr>
            <a:r>
              <a:t>&gt; 484 exemples en Allemagne = suffisant pour un modele ML de classification binaire robuste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BDBDBD"/>
                </a:solidFill>
                <a:latin typeface="Calibri"/>
              </a:defRPr>
            </a:pPr>
            <a:r>
              <a:t>&gt; Dataset desepquilibre (~97% positif / ~3% negatif) -&gt; techniques SMOTE, class weights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5778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9C12"/>
                </a:solidFill>
                <a:latin typeface="Calibri"/>
              </a:defRPr>
            </a:pPr>
            <a:r>
              <a:t>&gt; Allemagne = variable cible principale (plus de donnees)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BDBDBD"/>
                </a:solidFill>
                <a:latin typeface="Calibri"/>
              </a:defRPr>
            </a:pPr>
            <a:r>
              <a:t>&gt; France : 0 prix negatifs -&gt; contraste interessant (nucleaire vs renouvelable)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Documentation &amp; Livrables Produits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651760" cy="50292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45720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727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Calibri"/>
              </a:defRPr>
            </a:pPr>
            <a:r>
              <a:t>Dictionnaire de Donnees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docs/dictionnaire_donnees.md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344 lignes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71 variables documentees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Types, unites, sources, plages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8 variables temporelles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3 variables de prix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18 variables de charge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40+ variables generation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Strategies de nettoyage par variable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463040"/>
            <a:ext cx="2651760" cy="50292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1554480"/>
            <a:ext cx="45720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5727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Rapport Qualite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docs/rapport_qualite_donnees.md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465 lignes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6517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8 sections completes + annexes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Resume executif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Analyse qualite (avant/apres)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Prix day-ahead par pays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Strategies de nettoyage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Limitations et considerations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Recommandations par role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463040"/>
            <a:ext cx="2651760" cy="50292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2240" y="1554480"/>
            <a:ext cx="45720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5727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Scripts d'Ingestion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scripts/01-04_*.py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~950 lignes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6517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4 scripts Python modulaires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Logging complet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Gestion d'erreurs robuste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Configuration YAML centralisee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100% reproductibles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Automatisables en pipeline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Code documente et commente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1463040"/>
            <a:ext cx="2651760" cy="50292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0" y="1554480"/>
            <a:ext cx="45720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15727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1FA2"/>
                </a:solidFill>
                <a:latin typeface="Calibri"/>
              </a:defRPr>
            </a:pPr>
            <a:r>
              <a:t>Configuration &amp; Extras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config/ + reports/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Fichiers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6517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pipeline_config.yaml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data_quality_report.json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initial_exploration.txt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requirements.txt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Structure projet organisee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README.md complet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Fichier .gitignore configure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Recommandations pour l'Equipe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320040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Role 2 : Analyse Exploratoire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96C7"/>
                </a:solidFill>
                <a:latin typeface="Calibri"/>
              </a:defRPr>
            </a:pPr>
            <a:r>
              <a:t>Charger les donnees :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defRPr sz="1000" b="0">
                <a:solidFill>
                  <a:srgbClr val="BDBDBD"/>
                </a:solidFill>
                <a:latin typeface="Calibri"/>
              </a:defRPr>
            </a:pPr>
            <a:r>
              <a:t>pd.read_csv('data/processed/</a:t>
            </a:r>
            <a:br/>
            <a:r>
              <a:t>  opsd_clean_focus_countries.csv')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300"/>
              </a:spcAft>
              <a:defRPr sz="1200" b="1">
                <a:solidFill>
                  <a:srgbClr val="0096C7"/>
                </a:solidFill>
                <a:latin typeface="Calibri"/>
              </a:defRPr>
            </a:pPr>
            <a:r>
              <a:t>Visualisations prioritaires 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Distribution prix par pays/heure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Correlation generation vs prix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Heatmaps prix negatifs (mois/heure)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Analyse ratio generation/charge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Comparaison profils DE vs DK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1645920"/>
            <a:ext cx="320040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642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Role 3 : Feature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96C7"/>
                </a:solidFill>
                <a:latin typeface="Calibri"/>
              </a:defRPr>
            </a:pPr>
            <a:r>
              <a:t>Features suggerees 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renewable_penetration =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  (solar + wind) / load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generation_forecast_error =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  actual - forecast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Moyennes glissantes (3h, 6h, 24h)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Lags temporels (t-1, t-24, t-168)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F39C12"/>
                </a:solidFill>
                <a:latin typeface="Calibri"/>
              </a:defRPr>
            </a:pPr>
            <a:r>
              <a:t>  Encodage cyclique 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  hour_sin/cos (cycle 24h)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  month_sin/cos (saisonnalite)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645920"/>
            <a:ext cx="320040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6642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Role 4 : Modelisation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96C7"/>
                </a:solidFill>
                <a:latin typeface="Calibri"/>
              </a:defRPr>
            </a:pPr>
            <a:r>
              <a:t>Split temporel recommande :</a:t>
            </a:r>
          </a:p>
          <a:p>
            <a:pPr algn="l">
              <a:spcBef>
                <a:spcPts val="500"/>
              </a:spcBef>
              <a:spcAft>
                <a:spcPts val="30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  Train: 2015-2018 (70%)</a:t>
            </a:r>
          </a:p>
          <a:p>
            <a:pPr algn="l">
              <a:spcBef>
                <a:spcPts val="500"/>
              </a:spcBef>
              <a:spcAft>
                <a:spcPts val="300"/>
              </a:spcAft>
              <a:defRPr sz="1200" b="1">
                <a:solidFill>
                  <a:srgbClr val="F39C12"/>
                </a:solidFill>
                <a:latin typeface="Calibri"/>
              </a:defRPr>
            </a:pPr>
            <a:r>
              <a:t>  Validation: 2019 (15%)</a:t>
            </a:r>
          </a:p>
          <a:p>
            <a:pPr algn="l">
              <a:spcBef>
                <a:spcPts val="500"/>
              </a:spcBef>
              <a:spcAft>
                <a:spcPts val="300"/>
              </a:spcAft>
              <a:defRPr sz="1200" b="1">
                <a:solidFill>
                  <a:srgbClr val="E74C3C"/>
                </a:solidFill>
                <a:latin typeface="Calibri"/>
              </a:defRPr>
            </a:pPr>
            <a:r>
              <a:t>  Test: 2020 (15%)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300"/>
              </a:spcAft>
              <a:defRPr sz="1200" b="1">
                <a:solidFill>
                  <a:srgbClr val="0096C7"/>
                </a:solidFill>
                <a:latin typeface="Calibri"/>
              </a:defRPr>
            </a:pPr>
            <a:r>
              <a:t>Variable cible 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is_negative_price (binaire)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39C12"/>
                </a:solidFill>
                <a:latin typeface="Calibri"/>
              </a:defRPr>
            </a:pPr>
            <a:r>
              <a:t>  Focus : DE (484 exemples)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300"/>
              </a:spcAft>
              <a:defRPr sz="1200" b="1">
                <a:solidFill>
                  <a:srgbClr val="0096C7"/>
                </a:solidFill>
                <a:latin typeface="Calibri"/>
              </a:defRPr>
            </a:pPr>
            <a:r>
              <a:t>Gestion desequilibre 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SMOTE / class weights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Metriques: F1, PR-AUC, ROC-AUC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(pas seulement accuracy)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97B"/>
                </a:solidFill>
                <a:latin typeface="Calibri"/>
              </a:defRPr>
            </a:pPr>
            <a:r>
              <a:t>08b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Structure du Projet &amp; Arborescence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943600" cy="50292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97B"/>
                </a:solidFill>
                <a:latin typeface="Calibri"/>
              </a:defRPr>
            </a:pPr>
            <a:r>
              <a:t>Arborescence des Fichiers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Projet_8_Prix_Negatifs_Electricite/</a:t>
            </a:r>
            <a:br/>
            <a:r>
              <a:t>|-- README.md</a:t>
            </a:r>
            <a:br/>
            <a:r>
              <a:t>|-- LIVRAISON_ROLE_1.md</a:t>
            </a:r>
            <a:br/>
            <a:r>
              <a:t>|-- requirements.txt</a:t>
            </a:r>
            <a:br/>
            <a:r>
              <a:t>|-- config/</a:t>
            </a:r>
            <a:br/>
            <a:r>
              <a:t>|   |-- pipeline_config.yaml</a:t>
            </a:r>
            <a:br/>
            <a:r>
              <a:t>|-- data/</a:t>
            </a:r>
            <a:br/>
            <a:r>
              <a:t>|   |-- raw/opsd_timeseries/</a:t>
            </a:r>
            <a:br/>
            <a:r>
              <a:t>|   |   |-- time_series_60min_singleindex.csv  (124 Mo)</a:t>
            </a:r>
            <a:br/>
            <a:r>
              <a:t>|   |-- processed/</a:t>
            </a:r>
            <a:br/>
            <a:r>
              <a:t>|   |   |-- opsd_clean_focus_countries.csv      (23 Mo)</a:t>
            </a:r>
            <a:br/>
            <a:r>
              <a:t>|   |   |-- opsd_sample_1000.csv</a:t>
            </a:r>
            <a:br/>
            <a:r>
              <a:t>|-- docs/</a:t>
            </a:r>
            <a:br/>
            <a:r>
              <a:t>|   |-- dictionnaire_donnees.md</a:t>
            </a:r>
            <a:br/>
            <a:r>
              <a:t>|   |-- rapport_qualite_donnees.md</a:t>
            </a:r>
            <a:br/>
            <a:r>
              <a:t>|-- scripts/</a:t>
            </a:r>
            <a:br/>
            <a:r>
              <a:t>|   |-- 01_download_opsd_data.py</a:t>
            </a:r>
            <a:br/>
            <a:r>
              <a:t>|   |-- 02_initial_exploration.py</a:t>
            </a:r>
            <a:br/>
            <a:r>
              <a:t>|   |-- 03_data_quality_analysis.py</a:t>
            </a:r>
            <a:br/>
            <a:r>
              <a:t>|   |-- 04_data_cleaning.py</a:t>
            </a:r>
            <a:br/>
            <a:r>
              <a:t>|-- reports/</a:t>
            </a:r>
            <a:br/>
            <a:r>
              <a:t>|   |-- data_quality_report.json</a:t>
            </a:r>
            <a:br/>
            <a:r>
              <a:t>|   |-- initial_exploration.txt</a:t>
            </a:r>
            <a:br/>
            <a:r>
              <a:t>|-- notebooks/                          (pour Role 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554480"/>
            <a:ext cx="4480560" cy="50292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97B"/>
                </a:solidFill>
                <a:latin typeface="Calibri"/>
              </a:defRPr>
            </a:pPr>
            <a:r>
              <a:t>Technologies Utilisees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19456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  <a:spcAft>
                <a:spcPts val="100"/>
              </a:spcAft>
              <a:defRPr sz="1400" b="1">
                <a:solidFill>
                  <a:srgbClr val="0096C7"/>
                </a:solidFill>
                <a:latin typeface="Calibri"/>
              </a:defRPr>
            </a:pPr>
            <a:r>
              <a:t>  Python 3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BDBDBD"/>
                </a:solidFill>
                <a:latin typeface="Calibri"/>
              </a:defRPr>
            </a:pPr>
            <a:r>
              <a:t>    Langage principal</a:t>
            </a:r>
          </a:p>
          <a:p>
            <a:pPr algn="l">
              <a:spcBef>
                <a:spcPts val="800"/>
              </a:spcBef>
              <a:spcAft>
                <a:spcPts val="10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  Pandas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BDBDBD"/>
                </a:solidFill>
                <a:latin typeface="Calibri"/>
              </a:defRPr>
            </a:pPr>
            <a:r>
              <a:t>    Manipulation de donnees</a:t>
            </a:r>
          </a:p>
          <a:p>
            <a:pPr algn="l">
              <a:spcBef>
                <a:spcPts val="800"/>
              </a:spcBef>
              <a:spcAft>
                <a:spcPts val="10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  NumPy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BDBDBD"/>
                </a:solidFill>
                <a:latin typeface="Calibri"/>
              </a:defRPr>
            </a:pPr>
            <a:r>
              <a:t>    Calculs numeriques</a:t>
            </a:r>
          </a:p>
          <a:p>
            <a:pPr algn="l">
              <a:spcBef>
                <a:spcPts val="800"/>
              </a:spcBef>
              <a:spcAft>
                <a:spcPts val="10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  Requests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BDBDBD"/>
                </a:solidFill>
                <a:latin typeface="Calibri"/>
              </a:defRPr>
            </a:pPr>
            <a:r>
              <a:t>    Telechargement HTTP</a:t>
            </a:r>
          </a:p>
          <a:p>
            <a:pPr algn="l">
              <a:spcBef>
                <a:spcPts val="800"/>
              </a:spcBef>
              <a:spcAft>
                <a:spcPts val="10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  PyYAML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BDBDBD"/>
                </a:solidFill>
                <a:latin typeface="Calibri"/>
              </a:defRPr>
            </a:pPr>
            <a:r>
              <a:t>    Configuration pipeline</a:t>
            </a:r>
          </a:p>
          <a:p>
            <a:pPr algn="l">
              <a:spcBef>
                <a:spcPts val="800"/>
              </a:spcBef>
              <a:spcAft>
                <a:spcPts val="100"/>
              </a:spcAft>
              <a:defRPr sz="1400" b="1">
                <a:solidFill>
                  <a:srgbClr val="BDBDBD"/>
                </a:solidFill>
                <a:latin typeface="Calibri"/>
              </a:defRPr>
            </a:pPr>
            <a:r>
              <a:t>  Logging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BDBDBD"/>
                </a:solidFill>
                <a:latin typeface="Calibri"/>
              </a:defRPr>
            </a:pPr>
            <a:r>
              <a:t>    Tracabilite execution</a:t>
            </a:r>
          </a:p>
          <a:p>
            <a:pPr algn="l">
              <a:spcBef>
                <a:spcPts val="800"/>
              </a:spcBef>
              <a:spcAft>
                <a:spcPts val="100"/>
              </a:spcAft>
              <a:defRPr sz="1400" b="1">
                <a:solidFill>
                  <a:srgbClr val="7B1FA2"/>
                </a:solidFill>
                <a:latin typeface="Calibri"/>
              </a:defRPr>
            </a:pPr>
            <a:r>
              <a:t>  Git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BDBDBD"/>
                </a:solidFill>
                <a:latin typeface="Calibri"/>
              </a:defRPr>
            </a:pPr>
            <a:r>
              <a:t>    Versioning du code</a:t>
            </a:r>
          </a:p>
          <a:p>
            <a:pPr algn="l">
              <a:spcBef>
                <a:spcPts val="800"/>
              </a:spcBef>
              <a:spcAft>
                <a:spcPts val="100"/>
              </a:spcAft>
              <a:defRPr sz="1400" b="1">
                <a:solidFill>
                  <a:srgbClr val="BDBDBD"/>
                </a:solidFill>
                <a:latin typeface="Calibri"/>
              </a:defRPr>
            </a:pPr>
            <a:r>
              <a:t>  CSV / JSON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BDBDBD"/>
                </a:solidFill>
                <a:latin typeface="Calibri"/>
              </a:defRPr>
            </a:pPr>
            <a:r>
              <a:t>    Formats de donnees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09b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Timeline &amp; Chronologie du Travail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651760" cy="41148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640080" cy="45720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7335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7335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C7"/>
                </a:solidFill>
                <a:latin typeface="Calibri"/>
              </a:defRPr>
            </a:pPr>
            <a:r>
              <a:t>Cadrage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691640"/>
            <a:ext cx="365760" cy="3200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691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Setup infrastructure projet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Creation dossiers, config, requirements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Telechargement OPSD Time Series (124 Mo)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Premiere exploration du dataset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554480"/>
            <a:ext cx="2651760" cy="41148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1645920"/>
            <a:ext cx="64008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67335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67335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Exploration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1691640"/>
            <a:ext cx="365760" cy="3200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1691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2860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Exploration initiale complete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Analyse qualite exhaustive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Detection 484 prix negatifs (DE)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Reunion validation des sources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554480"/>
            <a:ext cx="2651760" cy="41148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2240" y="1645920"/>
            <a:ext cx="64008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67335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167335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Nettoyage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1691640"/>
            <a:ext cx="365760" cy="3200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1691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2860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Nettoyage complet des donnees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Filtrage 3 pays (300-&gt;71 cols)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Forward/backward fill (104,998 val.)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Creation 7 variables temporelles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1554480"/>
            <a:ext cx="2651760" cy="41148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0" y="1645920"/>
            <a:ext cx="64008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167335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167335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Documentation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338560" y="1691640"/>
            <a:ext cx="365760" cy="3200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38560" y="1691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2860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Dictionnaire de donnees (71 vars)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Rapport qualite (8 sections)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Finalisation des livrables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&gt; Reunion de presentation qualite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710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ACTIVE TERMINEE (S1-S4)  |  Maintenance S5-S8 : support equipe + ajustements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1FA2"/>
                </a:solidFill>
                <a:latin typeface="Calibri"/>
              </a:defRPr>
            </a:pPr>
            <a:r>
              <a:t>09c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Competences Demontrees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651760" cy="347472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2468880" cy="45720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Pipeline ETL reproductible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Gestion donnees volumineuses (124 Mo)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Nettoyage avance series temporelles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Configuration YAML centralisee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463040"/>
            <a:ext cx="2651760" cy="347472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0" y="1554480"/>
            <a:ext cx="246888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5819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Python &amp; Programmation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19456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950+ lignes de code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Pandas, NumPy, Requests, PyYAML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Scripts modulaires et reutilisables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Logging et gestion d'erreurs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463040"/>
            <a:ext cx="2651760" cy="347472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0" y="1554480"/>
            <a:ext cx="246888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819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Quality Assurance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19456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Analyse exhaustive de qualite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Metriques avant/apres nettoyage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Validation temporelle (0 gaps)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Documentation professionnelle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463040"/>
            <a:ext cx="2651760" cy="347472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0" y="1554480"/>
            <a:ext cx="2468880" cy="45720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58191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Communication &amp; Equipe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19456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Dictionnaire de donnees complet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Rapport qualite structure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Recommandations actionnables par role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README et guides d'utilisation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20640"/>
            <a:ext cx="10698480" cy="14630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Criteres de Validation Remplis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96C7"/>
                </a:solidFill>
                <a:latin typeface="Calibri"/>
              </a:defRPr>
            </a:pPr>
            <a:r>
              <a:t>Semaine 2 - Validation Sources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  [OK] Pertinence des donnees confirmee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  [OK] Volume suffisant (50k+ lignes)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  [OK] Granularite adequate (horaire)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  [OK] Risques identifies et documentes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577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39C12"/>
                </a:solidFill>
                <a:latin typeface="Calibri"/>
              </a:defRPr>
            </a:pPr>
            <a:r>
              <a:t>Semaine 4 - Qualite des Donnees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  [OK] Nettoyage termine (0% missing)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  [OK] Gestion valeurs manquantes validee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  [OK] Dictionnaire de donnees complet</a:t>
            </a:r>
          </a:p>
          <a:p>
            <a:pPr algn="l">
              <a:spcBef>
                <a:spcPts val="200"/>
              </a:spcBef>
              <a:spcAft>
                <a:spcPts val="30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  [OK] Rapport qualite professionnel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 &amp; Prochaines Etapes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303520" cy="27432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Points Forts du Travail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&gt; Source academique de haute qualite (TU Berlin / ETH Zurich)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&gt; Coherence temporelle parfaite : 0 gaps, 0 doublons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&gt; Completude finale 100% : 0 valeurs manquantes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&gt; 484 prix negatifs en Allemagne : phenomene confirme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&gt; Documentation exhaustive pour toute l'equipe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120640" cy="27432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Calibri"/>
              </a:defRPr>
            </a:pPr>
            <a:r>
              <a:t>Recapitulatif des Livrables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  <a:spcAft>
                <a:spcPts val="300"/>
              </a:spcAft>
              <a:defRPr sz="1300" b="1">
                <a:solidFill>
                  <a:srgbClr val="2ECC71"/>
                </a:solidFill>
                <a:latin typeface="Calibri"/>
              </a:defRPr>
            </a:pPr>
            <a:r>
              <a:t>  [OK] Donnees nettoyees</a:t>
            </a:r>
          </a:p>
          <a:p>
            <a:pPr algn="l">
              <a:spcBef>
                <a:spcPts val="100"/>
              </a:spcBef>
              <a:spcAft>
                <a:spcPts val="300"/>
              </a:spcAft>
              <a:defRPr sz="1100" b="0">
                <a:solidFill>
                  <a:srgbClr val="BDBDBD"/>
                </a:solidFill>
                <a:latin typeface="Calibri"/>
              </a:defRPr>
            </a:pPr>
            <a:r>
              <a:t>        23 Mo, 0% missing</a:t>
            </a:r>
          </a:p>
          <a:p>
            <a:pPr algn="l">
              <a:spcBef>
                <a:spcPts val="500"/>
              </a:spcBef>
              <a:spcAft>
                <a:spcPts val="300"/>
              </a:spcAft>
              <a:defRPr sz="1300" b="1">
                <a:solidFill>
                  <a:srgbClr val="F39C12"/>
                </a:solidFill>
                <a:latin typeface="Calibri"/>
              </a:defRPr>
            </a:pPr>
            <a:r>
              <a:t>  [OK] 4 scripts Python</a:t>
            </a:r>
          </a:p>
          <a:p>
            <a:pPr algn="l">
              <a:spcBef>
                <a:spcPts val="100"/>
              </a:spcBef>
              <a:spcAft>
                <a:spcPts val="300"/>
              </a:spcAft>
              <a:defRPr sz="1100" b="0">
                <a:solidFill>
                  <a:srgbClr val="BDBDBD"/>
                </a:solidFill>
                <a:latin typeface="Calibri"/>
              </a:defRPr>
            </a:pPr>
            <a:r>
              <a:t>        ~950 lignes, reproductibles</a:t>
            </a:r>
          </a:p>
          <a:p>
            <a:pPr algn="l">
              <a:spcBef>
                <a:spcPts val="500"/>
              </a:spcBef>
              <a:spcAft>
                <a:spcPts val="300"/>
              </a:spcAft>
              <a:defRPr sz="1300" b="1">
                <a:solidFill>
                  <a:srgbClr val="0096C7"/>
                </a:solidFill>
                <a:latin typeface="Calibri"/>
              </a:defRPr>
            </a:pPr>
            <a:r>
              <a:t>  [OK] Dictionnaire de donnees</a:t>
            </a:r>
          </a:p>
          <a:p>
            <a:pPr algn="l">
              <a:spcBef>
                <a:spcPts val="100"/>
              </a:spcBef>
              <a:spcAft>
                <a:spcPts val="300"/>
              </a:spcAft>
              <a:defRPr sz="1100" b="0">
                <a:solidFill>
                  <a:srgbClr val="BDBDBD"/>
                </a:solidFill>
                <a:latin typeface="Calibri"/>
              </a:defRPr>
            </a:pPr>
            <a:r>
              <a:t>        71 variables documentees</a:t>
            </a:r>
          </a:p>
          <a:p>
            <a:pPr algn="l">
              <a:spcBef>
                <a:spcPts val="500"/>
              </a:spcBef>
              <a:spcAft>
                <a:spcPts val="300"/>
              </a:spcAft>
              <a:defRPr sz="1300" b="1">
                <a:solidFill>
                  <a:srgbClr val="0096C7"/>
                </a:solidFill>
                <a:latin typeface="Calibri"/>
              </a:defRPr>
            </a:pPr>
            <a:r>
              <a:t>  [OK] Rapport qualite</a:t>
            </a:r>
          </a:p>
          <a:p>
            <a:pPr algn="l">
              <a:spcBef>
                <a:spcPts val="100"/>
              </a:spcBef>
              <a:spcAft>
                <a:spcPts val="300"/>
              </a:spcAft>
              <a:defRPr sz="1100" b="0">
                <a:solidFill>
                  <a:srgbClr val="BDBDBD"/>
                </a:solidFill>
                <a:latin typeface="Calibri"/>
              </a:defRPr>
            </a:pPr>
            <a:r>
              <a:t>        8 sections completes</a:t>
            </a:r>
          </a:p>
          <a:p>
            <a:pPr algn="l">
              <a:spcBef>
                <a:spcPts val="500"/>
              </a:spcBef>
              <a:spcAft>
                <a:spcPts val="300"/>
              </a:spcAft>
              <a:defRPr sz="1300" b="1">
                <a:solidFill>
                  <a:srgbClr val="BDBDBD"/>
                </a:solidFill>
                <a:latin typeface="Calibri"/>
              </a:defRPr>
            </a:pPr>
            <a:r>
              <a:t>  [OK] Configuration pipeline</a:t>
            </a:r>
          </a:p>
          <a:p>
            <a:pPr algn="l">
              <a:spcBef>
                <a:spcPts val="100"/>
              </a:spcBef>
              <a:spcAft>
                <a:spcPts val="300"/>
              </a:spcAft>
              <a:defRPr sz="1100" b="0">
                <a:solidFill>
                  <a:srgbClr val="BDBDBD"/>
                </a:solidFill>
                <a:latin typeface="Calibri"/>
              </a:defRPr>
            </a:pPr>
            <a:r>
              <a:t>        YAML centralise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698480" cy="21945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Calibri"/>
              </a:defRPr>
            </a:pPr>
            <a:r>
              <a:t>Prochaines Etapes (S5-S8)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C7"/>
                </a:solidFill>
                <a:latin typeface="Calibri"/>
              </a:defRPr>
            </a:pPr>
            <a:r>
              <a:t>Maintenance &amp; Support :</a:t>
            </a:r>
          </a:p>
          <a:p>
            <a:pPr algn="l">
              <a:spcBef>
                <a:spcPts val="400"/>
              </a:spcBef>
              <a:spcAft>
                <a:spcPts val="3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Support Role 2 pour questions donnees</a:t>
            </a:r>
          </a:p>
          <a:p>
            <a:pPr algn="l">
              <a:spcBef>
                <a:spcPts val="400"/>
              </a:spcBef>
              <a:spcAft>
                <a:spcPts val="3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Ajustements si problemes identifies en EDA</a:t>
            </a:r>
          </a:p>
          <a:p>
            <a:pPr algn="l">
              <a:spcBef>
                <a:spcPts val="400"/>
              </a:spcBef>
              <a:spcAft>
                <a:spcPts val="3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Documentation continue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0292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C7"/>
                </a:solidFill>
                <a:latin typeface="Calibri"/>
              </a:defRPr>
            </a:pPr>
            <a:r>
              <a:t>Ameliorations possibles :</a:t>
            </a:r>
          </a:p>
          <a:p>
            <a:pPr algn="l">
              <a:spcBef>
                <a:spcPts val="400"/>
              </a:spcBef>
              <a:spcAft>
                <a:spcPts val="3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Telecharger OPSD Weather Data (ERA5)</a:t>
            </a:r>
          </a:p>
          <a:p>
            <a:pPr algn="l">
              <a:spcBef>
                <a:spcPts val="400"/>
              </a:spcBef>
              <a:spcAft>
                <a:spcPts val="3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Obtenir ENTSO-E API token si besoin</a:t>
            </a:r>
          </a:p>
          <a:p>
            <a:pPr algn="l">
              <a:spcBef>
                <a:spcPts val="400"/>
              </a:spcBef>
              <a:spcAft>
                <a:spcPts val="3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&gt; Dashboard interactif qualite des donnees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Merci !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926080"/>
            <a:ext cx="3047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6C7"/>
                </a:solidFill>
                <a:latin typeface="Calibri"/>
              </a:defRPr>
            </a:pPr>
            <a:r>
              <a:t>Questions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206240"/>
            <a:ext cx="1645920" cy="10058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3434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6C7"/>
                </a:solidFill>
                <a:latin typeface="Calibri"/>
              </a:defRPr>
            </a:pPr>
            <a:r>
              <a:t>50,401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846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Observations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4206240"/>
            <a:ext cx="1645920" cy="10058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43434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Calibri"/>
              </a:defRPr>
            </a:pPr>
            <a:r>
              <a:t>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846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Variables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4206240"/>
            <a:ext cx="1645920" cy="10058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43434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846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Missing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4206240"/>
            <a:ext cx="1645920" cy="10058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43434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  <a:latin typeface="Calibri"/>
              </a:defRPr>
            </a:pPr>
            <a:r>
              <a:t>484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846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Prix negatifs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4206240"/>
            <a:ext cx="1645920" cy="100584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43434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B1FA2"/>
                </a:solidFill>
                <a:latin typeface="Calibri"/>
              </a:defRPr>
            </a:pPr>
            <a:r>
              <a:t>~950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846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DBDBD"/>
                </a:solidFill>
                <a:latin typeface="Calibri"/>
              </a:defRPr>
            </a:pPr>
            <a:r>
              <a:t>Lignes 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DBDBD"/>
                </a:solidFill>
                <a:latin typeface="Calibri"/>
              </a:defRPr>
            </a:pPr>
            <a:r>
              <a:t>Projet 8 : Prix Negatifs de l'Electricite Renouvelable  |  Role 1 : Data Engineering  |  Fevrier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