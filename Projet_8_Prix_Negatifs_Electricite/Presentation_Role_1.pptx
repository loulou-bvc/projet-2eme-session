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Nb prix negatifs</c:v>
                </c:pt>
              </c:strCache>
            </c:strRef>
          </c:tx>
          <c:spPr>
            <a:solidFill>
              <a:srgbClr val="FBBF24"/>
            </a:solidFill>
          </c:spPr>
          <c:dLbls>
            <c:numFmt formatCode="0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DK_1
(Est)</c:v>
                </c:pt>
                <c:pt idx="1">
                  <c:v>DE
(Allemagne)</c:v>
                </c:pt>
                <c:pt idx="2">
                  <c:v>DK_2
(Ouest)</c:v>
                </c:pt>
                <c:pt idx="3">
                  <c:v>FR
(France)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539</c:v>
                </c:pt>
                <c:pt idx="1">
                  <c:v>484</c:v>
                </c:pt>
                <c:pt idx="2">
                  <c:v>354</c:v>
                </c:pt>
                <c:pt idx="3">
                  <c:v>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1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1E3A5F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PROJET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Prix Negatifs de l'Electricite</a:t>
            </a:r>
            <a:br/>
            <a:r>
              <a:t>Renouvelable en Europe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108960"/>
            <a:ext cx="26517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BBF24"/>
                </a:solidFill>
                <a:latin typeface="Calibri"/>
              </a:defRPr>
            </a:pPr>
            <a:r>
              <a:t>Role 1 : Data Engineering &amp; Ingestion des Donnees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Semaines 1 - 4  |  Fevrier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5029200"/>
            <a:ext cx="1920240" cy="9601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1389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50 401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5961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observations horaires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5029200"/>
            <a:ext cx="1920240" cy="9601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51389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ADE80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55961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variables nettoyees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5029200"/>
            <a:ext cx="1920240" cy="9601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51389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ADE80"/>
                </a:solidFill>
                <a:latin typeface="Calibri"/>
              </a:defRPr>
            </a:pPr>
            <a:r>
              <a:t>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5961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valeurs manquantes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5029200"/>
            <a:ext cx="1920240" cy="9601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51389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BBF24"/>
                </a:solidFill>
                <a:latin typeface="Calibri"/>
              </a:defRPr>
            </a:pPr>
            <a:r>
              <a:t>484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55961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prix negatifs (DE)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97280"/>
            <a:ext cx="22860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303520" cy="7772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600200"/>
            <a:ext cx="50292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Contexte &amp; Problematique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5303520" cy="7772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560320"/>
            <a:ext cx="502920" cy="50292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606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Source de Donnees OPSD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5303520" cy="7772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3520440"/>
            <a:ext cx="502920" cy="5029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38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Pays Selectionnes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43400"/>
            <a:ext cx="5303520" cy="7772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4480560"/>
            <a:ext cx="502920" cy="5029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988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526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Pipeline d'Ingestion (4 scripts)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303520"/>
            <a:ext cx="5303520" cy="7772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" y="5440680"/>
            <a:ext cx="502920" cy="50292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458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Analyse de Qualite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1463040"/>
            <a:ext cx="5303520" cy="7772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29400" y="1600200"/>
            <a:ext cx="502920" cy="5029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1618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Nettoyage &amp; Transformations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2423160"/>
            <a:ext cx="5303520" cy="7772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29400" y="2560320"/>
            <a:ext cx="502920" cy="5029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2578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606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Resultats : Avant vs Apres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3383280"/>
            <a:ext cx="5303520" cy="7772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29400" y="3520440"/>
            <a:ext cx="502920" cy="5029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3538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Prix Negatifs Identifies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343400"/>
            <a:ext cx="5303520" cy="7772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29400" y="4480560"/>
            <a:ext cx="502920" cy="5029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44988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526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Livrables &amp; Documentation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5303520"/>
            <a:ext cx="5303520" cy="7772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29400" y="5440680"/>
            <a:ext cx="502920" cy="50292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5458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5486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Contexte &amp; Problematique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97280"/>
            <a:ext cx="22860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303520" cy="49377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Le phenomene des prix negatifs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Quand la production eolienne et solaire depasse la demande,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les prix de l'electricite deviennent negatifs.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1400" b="1">
                <a:solidFill>
                  <a:srgbClr val="FBBF24"/>
                </a:solidFill>
                <a:latin typeface="Calibri"/>
              </a:defRPr>
            </a:pPr>
            <a:r>
              <a:t>Les producteurs paient pour ecouler leur electricite.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400"/>
              </a:spcBef>
              <a:spcAft>
                <a:spcPts val="200"/>
              </a:spcAft>
              <a:defRPr sz="1600" b="1">
                <a:solidFill>
                  <a:srgbClr val="4ADE80"/>
                </a:solidFill>
                <a:latin typeface="Calibri"/>
              </a:defRPr>
            </a:pPr>
            <a:r>
              <a:t>Pourquoi c'est important :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&gt;  Phenomene en forte croissance avec la transition energetique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&gt;  Impact financier majeur pour les producteurs et consommateurs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&gt;  Defi operationnel pour les gestionnaires de reseau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&gt;  Opportunite de trading : anticiper ces episodes = profit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400"/>
              </a:spcBef>
              <a:spcAft>
                <a:spcPts val="200"/>
              </a:spcAft>
              <a:defRPr sz="1500" b="1">
                <a:solidFill>
                  <a:srgbClr val="38BDF8"/>
                </a:solidFill>
                <a:latin typeface="Calibri"/>
              </a:defRPr>
            </a:pPr>
            <a:r>
              <a:t>Objectif : predire quand les prix deviendront negatifs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a partir des donnees de production renouvelable et de marche.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029200" cy="493776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Mon role : Data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Responsabilites 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 Recherche et selection des jeux de donnees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 Mise en place du pipeline d'ingestion (Python)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 Analyse approfondie de la qualite des donnees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 Nettoyage et preparation du dataset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 Documentation complete pour l'equipe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400"/>
              </a:spcBef>
              <a:spcAft>
                <a:spcPts val="20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Livrables attendus 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1.  Dictionnaire de donnees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2.  Scripts d'ingestion reproductibles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3.  Rapport de qualite des donnees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400"/>
              </a:spcBef>
              <a:spcAft>
                <a:spcPts val="2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Periode : Semaines 1 a 4 (Fevrier 2026)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Charge estimee : ~120 heures de travail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Source de Donnees : OPSD Time Series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97280"/>
            <a:ext cx="2286000" cy="274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6400800" cy="50292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600200"/>
            <a:ext cx="2011680" cy="34747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93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SOURCE PRINCIPALE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Calibri"/>
              </a:defRPr>
            </a:pPr>
            <a:r>
              <a:t>Open Power System Data (OPSD)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Time Series v2020-10-06  |  Licence CC-BY 4.0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Consortium academique : TU Berlin, ETH Zurich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5943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38BDF8"/>
                </a:solidFill>
                <a:latin typeface="Calibri"/>
              </a:defRPr>
            </a:pPr>
            <a:r>
              <a:t>Caracteristiques du dataset :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 Fichier CSV de 124 Mo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 50 401 timestamps horaires (1 mesure par heure)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 300 colonnes couvrant 32 pays europeens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 Periode : janvier 2015 a juin 2020 (5,5 ans)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spcAft>
                <a:spcPts val="200"/>
              </a:spcAft>
              <a:defRPr sz="1500" b="1">
                <a:solidFill>
                  <a:srgbClr val="38BDF8"/>
                </a:solidFill>
                <a:latin typeface="Calibri"/>
              </a:defRPr>
            </a:pPr>
            <a:r>
              <a:t>Variables disponibles par pays :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 Prix day-ahead du marche (EUR/MWh)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 Charge electrique reelle et prevue (MW)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 Generation solaire et eolienne (MW)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 Capacites installees et profils de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463040"/>
            <a:ext cx="1920240" cy="9601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572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D4BF"/>
                </a:solidFill>
                <a:latin typeface="Calibri"/>
              </a:defRPr>
            </a:pPr>
            <a:r>
              <a:t>124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29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taille brute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463040"/>
            <a:ext cx="1920240" cy="9601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5727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50 401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029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lignes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651760"/>
            <a:ext cx="1920240" cy="9601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7614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BBF24"/>
                </a:solidFill>
                <a:latin typeface="Calibri"/>
              </a:defRPr>
            </a:pPr>
            <a:r>
              <a:t>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colonnes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651760"/>
            <a:ext cx="1920240" cy="9601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7614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94A3B8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3931920"/>
            <a:ext cx="4114800" cy="25603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4023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Sources complementaires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48056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OPSD Weather Data (ERA5)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Temperature, vent, radiation solaire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ENTSO-E Transparency Platform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Generation par type, flux transfrontaliers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Disponibles si besoin pour enrichir l'analyse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Pays Selectionnes : Strategie de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97280"/>
            <a:ext cx="22860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3383280" cy="50292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3200400" cy="502920"/>
          </a:xfrm>
          <a:prstGeom prst="roundRect">
            <a:avLst/>
          </a:prstGeom>
          <a:solidFill>
            <a:srgbClr val="D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ALLEMAGNE (DE)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Premier marche europeen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FBBF24"/>
                </a:solidFill>
                <a:latin typeface="Calibri"/>
              </a:defRPr>
            </a:pPr>
            <a:r>
              <a:t>  484 prix negatifs (2,76 %)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Prix minimum : -90,01 EUR/MWh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41 colonnes de donnees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Plus grande capacite renouvelable d'Europe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4 operateurs reseau (TSO) 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50Hertz, Amprion, TenneT, TransnetBW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Cible principale pour la modelisation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63040"/>
            <a:ext cx="3383280" cy="50292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1554480"/>
            <a:ext cx="3200400" cy="502920"/>
          </a:xfrm>
          <a:prstGeom prst="roundRect">
            <a:avLst/>
          </a:prstGeom>
          <a:solidFill>
            <a:srgbClr val="C6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8191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DANEMARK (DK)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Champion de l'eolien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974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FBBF24"/>
                </a:solidFill>
                <a:latin typeface="Calibri"/>
              </a:defRPr>
            </a:pPr>
            <a:r>
              <a:t>  DK_1 (Est) : 539 prix negatifs (1,07 %)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FBBF24"/>
                </a:solidFill>
                <a:latin typeface="Calibri"/>
              </a:defRPr>
            </a:pPr>
            <a:r>
              <a:t>  DK_2 (Ouest) : 354 prix negatifs (0,70 %)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Prix minimum : -58,80 EUR/MWh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24 colonnes de donnees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Plus forte penetration eolienne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en Europe (&gt; 40 % du mix)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2 zones de marche distinctes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383280" cy="50292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554480"/>
            <a:ext cx="3200400" cy="502920"/>
          </a:xfrm>
          <a:prstGeom prst="roundRect">
            <a:avLst/>
          </a:prstGeom>
          <a:solidFill>
            <a:srgbClr val="002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58191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FRANCE (FR)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Contraste nucleaire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974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FBBF24"/>
                </a:solidFill>
                <a:latin typeface="Calibri"/>
              </a:defRPr>
            </a:pPr>
            <a:r>
              <a:t>  0 prix negatif (0,00 %)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Prix minimum : 5,00 EUR/MWh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5 colonnes de donnees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Dominee par le nucleaire (~70 % du mix)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Marche couple IT_NORD-FR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Pourquoi pas de prix negatifs 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  &gt; Le nucleaire est inflexible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Pipeline d'Ingestion : 4 Scripts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97280"/>
            <a:ext cx="2286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2606040" cy="475488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457200" cy="384048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81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Telechargement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01_download_opsd_data.py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~150 lignes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2331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Telechargement automatise depuis OPSD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Barre de progression (tqdm)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Verification d'integrite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Gestion des erreurs reseau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Resultat : 124 Mo de donnees brutes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463040"/>
            <a:ext cx="2606040" cy="475488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40" y="1554480"/>
            <a:ext cx="457200" cy="38404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15727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581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Exploration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057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02_initial_exploration.py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~200 lignes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651760"/>
            <a:ext cx="2331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Vue d'ensemble du dataset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Dimensions : 50 401 x 300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Analyse par pays focus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Detection initiale des prix negatifs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Rapport : initial_exploration.txt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463040"/>
            <a:ext cx="2606040" cy="475488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1554480"/>
            <a:ext cx="457200" cy="38404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727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581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Qualite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057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03_data_quality_analysis.py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~350 lignes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651760"/>
            <a:ext cx="2331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Analyse exhaustive de qualite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Calcul taux de valeurs manquantes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Verification coherence temporelle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Statistiques descriptives par pays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Rapport JSON automatise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1463040"/>
            <a:ext cx="2606040" cy="475488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18320" y="1554480"/>
            <a:ext cx="457200" cy="38404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5727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1581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Nettoyage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2057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04_data_cleaning.py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~250 lignes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651760"/>
            <a:ext cx="2331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Filtrage 3 pays (300 &gt; 71 colonnes)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Forward fill + backward fill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Suppression colonnes &gt; 50 % vides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Creation 7 variables temporelles</a:t>
            </a:r>
          </a:p>
          <a:p>
            <a:pPr algn="l">
              <a:spcBef>
                <a:spcPts val="6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Dataset final : 0 % manquant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6355080"/>
            <a:ext cx="1069848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63733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~950 lignes de code Python  |  Logging complet  |  Configuration YAML  |  100 % reproductible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Analyse de Qualite : Etat Initial du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97280"/>
            <a:ext cx="2286000" cy="2743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169164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50 401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lignes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371600"/>
            <a:ext cx="169164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48132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BBF24"/>
                </a:solidFill>
                <a:latin typeface="Calibri"/>
              </a:defRPr>
            </a:pPr>
            <a:r>
              <a:t>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19385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colonnes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371600"/>
            <a:ext cx="169164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8132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94A3B8"/>
                </a:solidFill>
                <a:latin typeface="Calibri"/>
              </a:defRPr>
            </a:pPr>
            <a:r>
              <a:t>15,1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385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cellules totales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371600"/>
            <a:ext cx="169164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8132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87171"/>
                </a:solidFill>
                <a:latin typeface="Calibri"/>
              </a:defRPr>
            </a:pPr>
            <a:r>
              <a:t>26,2 %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385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val. manquantes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371600"/>
            <a:ext cx="169164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8132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94A3B8"/>
                </a:solidFill>
                <a:latin typeface="Calibri"/>
              </a:defRPr>
            </a:pPr>
            <a:r>
              <a:t>124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385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taille fichier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1371600"/>
            <a:ext cx="169164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148132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ADE80"/>
                </a:solidFill>
                <a:latin typeface="Calibri"/>
              </a:defRPr>
            </a:pPr>
            <a:r>
              <a:t>5,5 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19385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2015 - 2020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2560320"/>
            <a:ext cx="5486400" cy="39319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Completude par categorie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20040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38BDF8"/>
                </a:solidFill>
                <a:latin typeface="Consolas"/>
              </a:defRPr>
            </a:pPr>
            <a:r>
              <a:t>Categorie                               Colonnes         %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4ADE80"/>
                </a:solidFill>
                <a:latin typeface="Consolas"/>
              </a:defRPr>
            </a:pPr>
            <a:r>
              <a:t>  Completes (0 % manquant)                    92    30,7 %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FBBF24"/>
                </a:solidFill>
                <a:latin typeface="Consolas"/>
              </a:defRPr>
            </a:pPr>
            <a:r>
              <a:t>  Partielles (&lt; 50 %)                        189    63,0 %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200" b="0">
                <a:solidFill>
                  <a:srgbClr val="F87171"/>
                </a:solidFill>
                <a:latin typeface="Consolas"/>
              </a:defRPr>
            </a:pPr>
            <a:r>
              <a:t>  Majoritairement vides (&gt;= 50 %)             19     6,3 %</a:t>
            </a:r>
          </a:p>
          <a:p>
            <a:pPr algn="l">
              <a:spcBef>
                <a:spcPts val="1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87171"/>
                </a:solidFill>
                <a:latin typeface="Calibri"/>
              </a:defRPr>
            </a:pPr>
            <a:r>
              <a:t>3 964 527 cellules manquantes sur 15,1 millions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Principalement du aux pays hors focus (29 pays non utilises)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2560320"/>
            <a:ext cx="4937760" cy="39319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Qualite temporelle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Calibri"/>
              </a:defRPr>
            </a:pPr>
            <a:r>
              <a:t>EXCELLENTE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6576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4ADE80"/>
                </a:solidFill>
                <a:latin typeface="Calibri"/>
              </a:defRPr>
            </a:pPr>
            <a:r>
              <a:t>  Gaps temporels :  0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4ADE80"/>
                </a:solidFill>
                <a:latin typeface="Calibri"/>
              </a:defRPr>
            </a:pPr>
            <a:r>
              <a:t>  Timestamps dupliques :  0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38BDF8"/>
                </a:solidFill>
                <a:latin typeface="Calibri"/>
              </a:defRPr>
            </a:pPr>
            <a:r>
              <a:t>  Resolution :  Horaire (1h)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4ADE80"/>
                </a:solidFill>
                <a:latin typeface="Calibri"/>
              </a:defRPr>
            </a:pPr>
            <a:r>
              <a:t>  Regularite :  100 %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Debut :  01/01/2015 00:00 UTC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Fin :  30/06/2020 23:00 UTC</a:t>
            </a:r>
          </a:p>
          <a:p>
            <a:pPr algn="l">
              <a:spcBef>
                <a:spcPts val="10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4ADE80"/>
                </a:solidFill>
                <a:latin typeface="Calibri"/>
              </a:defRPr>
            </a:pPr>
            <a:r>
              <a:t>Serie temporelle parfaitement coherente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et reguliere sur toute la periode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Nettoyage &amp; Transformations Appliquees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97280"/>
            <a:ext cx="228600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2606040" cy="4572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536192"/>
            <a:ext cx="2468880" cy="4572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636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Etape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Filtrage geographique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300 &gt; 71 colonnes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Selection des 3 pays focus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(DE, DK, FR)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Reduction de 76 % des colonnes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Elimination des 29 pays non pertinents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463040"/>
            <a:ext cx="2606040" cy="4572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30752" y="1536192"/>
            <a:ext cx="246888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15636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Etape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1488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Suppression colonnes vides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5146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7 colonnes supprimees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92608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Seuil : &gt; 50 % de valeurs manquantes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Zone couplee DE-LU incomplete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(65 % a 67 % manquant)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Impact minimal sur l'analyse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463040"/>
            <a:ext cx="2606040" cy="4572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65392" y="1536192"/>
            <a:ext cx="2468880" cy="4572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15636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Etape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1488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Imputation temporelle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5146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104 998 valeurs remplies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2608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Forward fill : tendance recente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Backward fill : debut de serie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Methode adaptee aux series temporelles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Resultat : 0 valeur manquante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1463040"/>
            <a:ext cx="2606040" cy="4572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00032" y="1536192"/>
            <a:ext cx="2468880" cy="4572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0032" y="15636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Etape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1488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Variables temporelles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5146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7 nouvelles variables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292608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year, month, day, hour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dayofweek, quarter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is_weekend (binaire)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Indispensables pour le 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Resultats : Avant vs Apres Nettoyage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97280"/>
            <a:ext cx="2286000" cy="2743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10515600" cy="45720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645920"/>
            <a:ext cx="1014984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Metrique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Avant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Apres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691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Evolution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286000"/>
            <a:ext cx="10149840" cy="475488"/>
          </a:xfrm>
          <a:prstGeom prst="rect">
            <a:avLst/>
          </a:prstGeom>
          <a:solidFill>
            <a:srgbClr val="0D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3408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Colonnes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3408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7171"/>
                </a:solidFill>
                <a:latin typeface="Calibri"/>
              </a:defRPr>
            </a:pPr>
            <a: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408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3408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BDF8"/>
                </a:solidFill>
                <a:latin typeface="Calibri"/>
              </a:defRPr>
            </a:pPr>
            <a:r>
              <a:t>-76 %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437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Valeurs manquantes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8437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7171"/>
                </a:solidFill>
                <a:latin typeface="Calibri"/>
              </a:defRPr>
            </a:pPr>
            <a:r>
              <a:t>26,2 %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437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0,0 %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8437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DE80"/>
                </a:solidFill>
                <a:latin typeface="Calibri"/>
              </a:defRPr>
            </a:pPr>
            <a:r>
              <a:t>-26,2 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3291840"/>
            <a:ext cx="10149840" cy="475488"/>
          </a:xfrm>
          <a:prstGeom prst="rect">
            <a:avLst/>
          </a:prstGeom>
          <a:solidFill>
            <a:srgbClr val="0D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3467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Taille fichier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3467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7171"/>
                </a:solidFill>
                <a:latin typeface="Calibri"/>
              </a:defRPr>
            </a:pPr>
            <a:r>
              <a:t>124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3467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23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3467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BDF8"/>
                </a:solidFill>
                <a:latin typeface="Calibri"/>
              </a:defRPr>
            </a:pPr>
            <a:r>
              <a:t>-82 %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8496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Pays couverts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84962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7171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84962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3 (DE, DK, FR)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849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BBF24"/>
                </a:solidFill>
                <a:latin typeface="Calibri"/>
              </a:defRPr>
            </a:pPr>
            <a:r>
              <a:t>Focus pertinent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4297680"/>
            <a:ext cx="10149840" cy="475488"/>
          </a:xfrm>
          <a:prstGeom prst="rect">
            <a:avLst/>
          </a:prstGeom>
          <a:solidFill>
            <a:srgbClr val="0D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525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Lignes conservees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35254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7171"/>
                </a:solidFill>
                <a:latin typeface="Calibri"/>
              </a:defRPr>
            </a:pPr>
            <a:r>
              <a:t>50 401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35254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50 401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352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DE80"/>
                </a:solidFill>
                <a:latin typeface="Calibri"/>
              </a:defRPr>
            </a:pPr>
            <a:r>
              <a:t>100 % (aucune perte)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8554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Gaps temporels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48554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7171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8554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8554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DE80"/>
                </a:solidFill>
                <a:latin typeface="Calibri"/>
              </a:defRPr>
            </a:pPr>
            <a:r>
              <a:t>Parfait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5303520"/>
            <a:ext cx="10149840" cy="475488"/>
          </a:xfrm>
          <a:prstGeom prst="rect">
            <a:avLst/>
          </a:prstGeom>
          <a:solidFill>
            <a:srgbClr val="0D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3583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Completude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53583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7171"/>
                </a:solidFill>
                <a:latin typeface="Calibri"/>
              </a:defRPr>
            </a:pPr>
            <a:r>
              <a:t>73,8 %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3583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100 %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53583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DE80"/>
                </a:solidFill>
                <a:latin typeface="Calibri"/>
              </a:defRPr>
            </a:pPr>
            <a:r>
              <a:t>+26,2 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Dataset final : 50 401 lignes x 71 colonnes  |  0 % manquant  |  22,75 Mo  |  Pret pour l'analyse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Prix Negatifs Identifies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97280"/>
            <a:ext cx="2286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463040"/>
          <a:ext cx="56692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66560" y="1463040"/>
            <a:ext cx="4754880" cy="347472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554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  <a:latin typeface="Calibri"/>
              </a:defRPr>
            </a:pPr>
            <a:r>
              <a:t>Detail par zone de marche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206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38BDF8"/>
                </a:solidFill>
                <a:latin typeface="Consolas"/>
              </a:defRPr>
            </a:pPr>
            <a:r>
              <a:t> Zone                           Nb        %      Min EUR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87171"/>
                </a:solidFill>
                <a:latin typeface="Consolas"/>
              </a:defRPr>
            </a:pPr>
            <a:r>
              <a:t> Allemagne (DE)                484   2,76 %   -90,01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BBF24"/>
                </a:solidFill>
                <a:latin typeface="Consolas"/>
              </a:defRPr>
            </a:pPr>
            <a:r>
              <a:t> Danemark Est (DK_1)           539   1,07 %   -58,80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BBF24"/>
                </a:solidFill>
                <a:latin typeface="Consolas"/>
              </a:defRPr>
            </a:pPr>
            <a:r>
              <a:t> Danemark Ouest (DK_2)         354   0,70 %   -53,62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4ADE80"/>
                </a:solidFill>
                <a:latin typeface="Consolas"/>
              </a:defRPr>
            </a:pPr>
            <a:r>
              <a:t> France (IT_NORD_FR)             0   0,00 %    +5,00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12080"/>
            <a:ext cx="10698480" cy="13716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484 exemples en Allemagne : suffisant pour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un modele de classification binaire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7607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Dataset desequilibre (~97 % / ~3 %)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&gt; Techniques adaptees necessaires (SMOTE, etc.)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Livrables &amp; Documentation Produits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97280"/>
            <a:ext cx="22860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2606040" cy="51206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41148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Dataset nettoye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data/processed/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756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22,75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7744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50 401 lignes x 71 colonnes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0 % de valeurs manquantes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0 gaps temporels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3 pays focus (DE, DK, FR)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Fichier CSV pret a l'emploi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Echantillon 1 000 lignes inclus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371600"/>
            <a:ext cx="2606040" cy="51206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40" y="1463040"/>
            <a:ext cx="41148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14630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Scripts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1874519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scripts/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0756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~950 lignes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37744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01_download_opsd_data.py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02_initial_exploration.py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03_data_quality_analysis.py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04_data_cleaning.py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Logging et gestion d'erreurs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Configuration centralisee (YAML)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371600"/>
            <a:ext cx="2606040" cy="51206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1463040"/>
            <a:ext cx="41148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4630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Dictionnaire de donnees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874519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docs/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0756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71 variables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37744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Type, unite, source, plage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Statistiques descriptives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Strategies de nettoyage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8 variables temporelles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3 variables de prix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60 variables generation/charge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1371600"/>
            <a:ext cx="2606040" cy="512064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18320" y="1463040"/>
            <a:ext cx="41148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4630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14813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Rapport de qualite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1874519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onsolas"/>
              </a:defRPr>
            </a:pPr>
            <a:r>
              <a:t>docs/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0756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8 sections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37744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Resume executif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Documentation des sources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Analyse qualite avant / apres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Analyse des prix par pays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Strategies de nettoyage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Limitations identifiees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97280"/>
            <a:ext cx="2286000" cy="274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5303520" cy="246888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Calibri"/>
              </a:defRPr>
            </a:pPr>
            <a:r>
              <a:t>Points forts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Source academique de qualite (TU Berlin / ETH Zurich)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Serie temporelle parfaite : 0 gap, 0 doublon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Completude finale 100 % (0 valeur manquante)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484 prix negatifs en Allemagne : phenomene confirme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120640" cy="246888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Livrables livres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  Dataset nettoye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   23 Mo, 0 % manquant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  4 scripts Python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   ~950 lignes, reproductibles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  Dictionnaire de donnees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   71 variables documentees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  Rapport de qualite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   8 sections completes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10698480" cy="246888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Chronologie du travail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754880"/>
            <a:ext cx="2377440" cy="1554480"/>
          </a:xfrm>
          <a:prstGeom prst="roundRect">
            <a:avLst/>
          </a:prstGeom>
          <a:solidFill>
            <a:srgbClr val="1C29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70432" y="4828032"/>
            <a:ext cx="50292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8463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846320"/>
            <a:ext cx="41148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846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035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Cadrage &amp; telechargement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4754880"/>
            <a:ext cx="2377440" cy="1554480"/>
          </a:xfrm>
          <a:prstGeom prst="roundRect">
            <a:avLst/>
          </a:prstGeom>
          <a:solidFill>
            <a:srgbClr val="1C2945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76472" y="4828032"/>
            <a:ext cx="502920" cy="36576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76472" y="48463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4846320"/>
            <a:ext cx="41148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4846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3035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Exploration &amp; analyse qualite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754880"/>
            <a:ext cx="2377440" cy="1554480"/>
          </a:xfrm>
          <a:prstGeom prst="roundRect">
            <a:avLst/>
          </a:prstGeom>
          <a:solidFill>
            <a:srgbClr val="1C294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82512" y="4828032"/>
            <a:ext cx="502920" cy="3657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8463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846320"/>
            <a:ext cx="41148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4846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3035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Nettoyage complet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4754880"/>
            <a:ext cx="2377440" cy="1554480"/>
          </a:xfrm>
          <a:prstGeom prst="roundRect">
            <a:avLst/>
          </a:prstGeom>
          <a:solidFill>
            <a:srgbClr val="1C29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88552" y="4828032"/>
            <a:ext cx="502920" cy="36576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8552" y="48463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44200" y="4846320"/>
            <a:ext cx="41148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44200" y="4846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53035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Documentation &amp; livrables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Merci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834640"/>
            <a:ext cx="210312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8BDF8"/>
                </a:solidFill>
                <a:latin typeface="Calibri"/>
              </a:defRPr>
            </a:pPr>
            <a:r>
              <a:t>Questions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114800"/>
            <a:ext cx="173736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224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Calibri"/>
              </a:defRPr>
            </a:pPr>
            <a:r>
              <a:t>50 401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81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114800"/>
            <a:ext cx="173736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4224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ADE80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681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4114800"/>
            <a:ext cx="173736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4224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ADE80"/>
                </a:solidFill>
                <a:latin typeface="Calibri"/>
              </a:defRPr>
            </a:pPr>
            <a:r>
              <a:t>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681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manquant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114800"/>
            <a:ext cx="173736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4224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BBF24"/>
                </a:solidFill>
                <a:latin typeface="Calibri"/>
              </a:defRPr>
            </a:pPr>
            <a:r>
              <a:t>484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681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prix negatifs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4114800"/>
            <a:ext cx="1737360" cy="914400"/>
          </a:xfrm>
          <a:prstGeom prst="round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4224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A78BFA"/>
                </a:solidFill>
                <a:latin typeface="Calibri"/>
              </a:defRPr>
            </a:pPr>
            <a:r>
              <a:t>~950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681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lignes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Projet 8 : Prix Negatifs de l'Electricite  |  Role 1 : Data Engineering  |  Fevrier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